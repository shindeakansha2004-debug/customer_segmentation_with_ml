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60" r:id="rId3"/>
    <p:sldId id="259" r:id="rId4"/>
    <p:sldId id="263" r:id="rId5"/>
    <p:sldId id="265" r:id="rId6"/>
    <p:sldId id="264" r:id="rId7"/>
    <p:sldId id="266" r:id="rId8"/>
    <p:sldId id="267" r:id="rId9"/>
    <p:sldId id="268" r:id="rId10"/>
    <p:sldId id="256" r:id="rId11"/>
    <p:sldId id="261" r:id="rId12"/>
    <p:sldId id="269" r:id="rId13"/>
    <p:sldId id="270" r:id="rId14"/>
    <p:sldId id="272" r:id="rId15"/>
    <p:sldId id="273" r:id="rId16"/>
    <p:sldId id="276" r:id="rId17"/>
    <p:sldId id="271" r:id="rId18"/>
    <p:sldId id="275" r:id="rId19"/>
    <p:sldId id="274" r:id="rId20"/>
    <p:sldId id="277" r:id="rId21"/>
    <p:sldId id="280" r:id="rId22"/>
    <p:sldId id="279" r:id="rId23"/>
    <p:sldId id="278" r:id="rId24"/>
    <p:sldId id="26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DCCF6-A51D-4BFA-929A-CF02A438F985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C1E47-E31F-4B3D-933B-BD3E047A70A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795E-D2DC-409D-8D3F-7CC0F92BF2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1D12764-490B-4328-96D3-82CE5C8F388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A65795E-D2DC-409D-8D3F-7CC0F92BF2DB}" type="slidenum">
              <a:rPr lang="en-IN" smtClean="0"/>
            </a:fld>
            <a:endParaRPr lang="en-IN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502" y="0"/>
            <a:ext cx="1727498" cy="480291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0461" y="2263638"/>
            <a:ext cx="7561277" cy="1325563"/>
          </a:xfrm>
        </p:spPr>
        <p:txBody>
          <a:bodyPr>
            <a:noAutofit/>
          </a:bodyPr>
          <a:lstStyle/>
          <a:p>
            <a:pPr algn="ctr"/>
            <a:r>
              <a:rPr lang="en-IN" sz="4400" b="1" dirty="0">
                <a:latin typeface="Aptos" panose="020B0004020202020204" pitchFamily="34" charset="0"/>
              </a:rPr>
              <a:t>Customer </a:t>
            </a:r>
            <a:br>
              <a:rPr lang="en-IN" sz="4400" b="1" dirty="0">
                <a:latin typeface="Aptos" panose="020B0004020202020204" pitchFamily="34" charset="0"/>
              </a:rPr>
            </a:br>
            <a:r>
              <a:rPr lang="en-IN" sz="4400" b="1" dirty="0">
                <a:latin typeface="Aptos" panose="020B0004020202020204" pitchFamily="34" charset="0"/>
              </a:rPr>
              <a:t>Segmentation Project</a:t>
            </a:r>
            <a:endParaRPr lang="en-IN" sz="4400" b="1" dirty="0">
              <a:solidFill>
                <a:schemeClr val="bg1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2521" y="4079703"/>
            <a:ext cx="372334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Anena Girish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pagadala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Ushir Mrunmayi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Pramodkumar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Akansha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Ambadas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Shinde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Malli Neeraja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0435" y="177379"/>
            <a:ext cx="5968482" cy="332421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13" y="1069319"/>
            <a:ext cx="5540216" cy="15403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00596" y="6047532"/>
            <a:ext cx="449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Group No. 2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277" y="446056"/>
            <a:ext cx="8534400" cy="835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02873" y="1823585"/>
            <a:ext cx="11258025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Objective</a:t>
            </a:r>
            <a:r>
              <a:rPr lang="en-IN" sz="2400" dirty="0"/>
              <a:t>: To identify distinct customer groups based on demographics and spending </a:t>
            </a:r>
            <a:r>
              <a:rPr lang="en-IN" sz="2400" dirty="0" err="1"/>
              <a:t>behavior</a:t>
            </a:r>
            <a:r>
              <a:rPr lang="en-IN" sz="2400" dirty="0"/>
              <a:t>.</a:t>
            </a:r>
            <a:endParaRPr lang="en-IN" sz="2400" dirty="0"/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Dataset</a:t>
            </a:r>
            <a:r>
              <a:rPr lang="en-IN" sz="2400" dirty="0"/>
              <a:t>: Marketing campaign data containing demographics, spending, and response </a:t>
            </a:r>
            <a:r>
              <a:rPr lang="en-IN" sz="2400" dirty="0" err="1"/>
              <a:t>behavior</a:t>
            </a:r>
            <a:r>
              <a:rPr lang="en-IN" sz="2400" dirty="0"/>
              <a:t>.</a:t>
            </a:r>
            <a:endParaRPr lang="en-IN" sz="2400" dirty="0"/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Goal</a:t>
            </a:r>
            <a:r>
              <a:rPr lang="en-IN" sz="2400" dirty="0"/>
              <a:t>: Enhance targeted marketing and customer understanding using data-driven insights.</a:t>
            </a:r>
            <a:endParaRPr lang="en-IN" sz="24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2" y="227362"/>
            <a:ext cx="4792857" cy="971076"/>
          </a:xfrm>
        </p:spPr>
        <p:txBody>
          <a:bodyPr>
            <a:noAutofit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10" name="Rectangle 1"/>
          <p:cNvSpPr txBox="1">
            <a:spLocks noChangeArrowheads="1"/>
          </p:cNvSpPr>
          <p:nvPr/>
        </p:nvSpPr>
        <p:spPr bwMode="auto">
          <a:xfrm>
            <a:off x="6066425" y="1073021"/>
            <a:ext cx="60385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sp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209062" y="11542942"/>
            <a:ext cx="20874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5)Data </a:t>
            </a:r>
            <a:r>
              <a:rPr lang="en-IN" dirty="0" err="1"/>
              <a:t>Modeling</a:t>
            </a:r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8377" y="340917"/>
            <a:ext cx="7331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and Overview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1682" y="1534686"/>
            <a:ext cx="945191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Data Source</a:t>
            </a:r>
            <a:r>
              <a:rPr lang="en-IN" sz="2400" dirty="0"/>
              <a:t>: marketing_campaign.xlsx</a:t>
            </a:r>
            <a:endParaRPr lang="en-IN" sz="2400" dirty="0"/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Tools &amp; Libraries </a:t>
            </a:r>
            <a:r>
              <a:rPr lang="en-IN" sz="2400" dirty="0"/>
              <a:t>: Python, pandas, NumPy , matplotlib, seaborn, scikit-learn, </a:t>
            </a:r>
            <a:r>
              <a:rPr lang="en-IN" sz="2400" dirty="0" err="1"/>
              <a:t>tkinter</a:t>
            </a:r>
            <a:r>
              <a:rPr lang="en-IN" sz="2400" dirty="0"/>
              <a:t> for GUI, and </a:t>
            </a:r>
            <a:r>
              <a:rPr lang="en-IN" sz="2400" dirty="0" err="1"/>
              <a:t>joblib</a:t>
            </a:r>
            <a:r>
              <a:rPr lang="en-IN" sz="2400" dirty="0"/>
              <a:t> for model persistence.</a:t>
            </a:r>
            <a:endParaRPr lang="en-IN" sz="2400" dirty="0"/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altLang="en-US" sz="2400" b="1" dirty="0"/>
              <a:t>Initial Size</a:t>
            </a:r>
            <a:r>
              <a:rPr lang="en-IN" altLang="en-US" sz="2400" dirty="0"/>
              <a:t>: 2,240 records across 29 columns.</a:t>
            </a:r>
            <a:endParaRPr lang="en-IN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Key Columns </a:t>
            </a:r>
            <a:r>
              <a:rPr lang="en-IN" sz="2400" dirty="0"/>
              <a:t>: Age, Income, Education, Marital Status, Spending categories</a:t>
            </a:r>
            <a:r>
              <a:rPr lang="en-IN" altLang="en-US" sz="2400" dirty="0"/>
              <a:t>(Wines, Fruits, Meat, Fish, Sweet, Gold).</a:t>
            </a:r>
            <a:endParaRPr lang="en-IN" altLang="en-US" sz="2400" dirty="0"/>
          </a:p>
          <a:p>
            <a:endParaRPr lang="en-IN" sz="24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2596" y="251926"/>
            <a:ext cx="70586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Preparation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3729" y="1548881"/>
            <a:ext cx="105156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Missing Values</a:t>
            </a:r>
            <a:r>
              <a:rPr lang="en-US" altLang="en-US" sz="2400" dirty="0"/>
              <a:t>: Only the 'Income' column had missing values (1.12%). These were imputed using the median to maintain data quality and avoid data loss.</a:t>
            </a:r>
            <a:endParaRPr lang="en-US" altLang="en-US" sz="2400" dirty="0"/>
          </a:p>
          <a:p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Duplicate Records</a:t>
            </a:r>
            <a:r>
              <a:rPr lang="en-US" altLang="en-US" sz="2400" dirty="0"/>
              <a:t>: No duplicate rows were found.</a:t>
            </a:r>
            <a:endParaRPr lang="en-US" altLang="en-US" sz="2400" dirty="0"/>
          </a:p>
          <a:p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Outlier Handling</a:t>
            </a:r>
            <a:r>
              <a:rPr lang="en-US" altLang="en-US" sz="2400" dirty="0"/>
              <a:t>: Extreme outliers in 'Income' were   capped using the Interquartile Range (IQR) method to ensure robust statistical analysis.</a:t>
            </a:r>
            <a:endParaRPr lang="en-US" altLang="en-US" sz="24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51" y="129937"/>
            <a:ext cx="9075609" cy="75447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031892" y="1166842"/>
            <a:ext cx="887721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New features were derived to improve the relevance of the data for segmentation: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sz="2400" dirty="0"/>
              <a:t> - </a:t>
            </a:r>
            <a:r>
              <a:rPr lang="en-US" altLang="en-US" sz="2400" dirty="0"/>
              <a:t>Age: Calculated from 2025 - </a:t>
            </a:r>
            <a:r>
              <a:rPr lang="en-US" altLang="en-US" sz="2400" dirty="0" err="1"/>
              <a:t>Year_Birth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sz="2400" dirty="0"/>
              <a:t> - </a:t>
            </a:r>
            <a:r>
              <a:rPr lang="en-US" altLang="en-US" sz="2400" dirty="0" err="1"/>
              <a:t>TotalChildren</a:t>
            </a:r>
            <a:r>
              <a:rPr lang="en-US" altLang="en-US" sz="2400" dirty="0"/>
              <a:t>: Sum of </a:t>
            </a:r>
            <a:r>
              <a:rPr lang="en-US" altLang="en-US" sz="2400" dirty="0" err="1"/>
              <a:t>Kidhome</a:t>
            </a:r>
            <a:r>
              <a:rPr lang="en-US" altLang="en-US" sz="2400" dirty="0"/>
              <a:t> and </a:t>
            </a:r>
            <a:r>
              <a:rPr lang="en-US" altLang="en-US" sz="2400" dirty="0" err="1"/>
              <a:t>Teenhome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sz="2400" dirty="0"/>
              <a:t> - </a:t>
            </a:r>
            <a:r>
              <a:rPr lang="en-US" altLang="en-US" sz="2400" dirty="0" err="1"/>
              <a:t>TotalSpend</a:t>
            </a:r>
            <a:r>
              <a:rPr lang="en-US" altLang="en-US" sz="2400" dirty="0"/>
              <a:t>: Sum of all six product spending columns     (The primary segmentation variable).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sz="2400" dirty="0"/>
              <a:t> - </a:t>
            </a:r>
            <a:r>
              <a:rPr lang="en-US" altLang="en-US" sz="2400" dirty="0" err="1"/>
              <a:t>FamilySize</a:t>
            </a:r>
            <a:r>
              <a:rPr lang="en-US" altLang="en-US" sz="2400" dirty="0"/>
              <a:t>: Calculated as </a:t>
            </a:r>
            <a:r>
              <a:rPr lang="en-US" altLang="en-US" sz="2400" dirty="0" err="1"/>
              <a:t>TotalChildren</a:t>
            </a:r>
            <a:r>
              <a:rPr lang="en-US" altLang="en-US" sz="2400" dirty="0"/>
              <a:t> + (Customer) + </a:t>
            </a:r>
            <a:r>
              <a:rPr lang="en-US" altLang="en-US" sz="2400" dirty="0" err="1"/>
              <a:t>IsPartner</a:t>
            </a:r>
            <a:r>
              <a:rPr lang="en-US" altLang="en-US" sz="2400" dirty="0"/>
              <a:t>.</a:t>
            </a:r>
            <a:endParaRPr lang="en-US" altLang="en-US" sz="24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507" y="335903"/>
            <a:ext cx="84815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8335" y="1536174"/>
            <a:ext cx="89667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Income &amp; </a:t>
            </a:r>
            <a:r>
              <a:rPr lang="en-US" altLang="en-US" sz="2400" b="1" dirty="0" err="1"/>
              <a:t>TotalSpend</a:t>
            </a:r>
            <a:r>
              <a:rPr lang="en-US" altLang="en-US" sz="2400" dirty="0"/>
              <a:t>: Both show a right-skewed distribution, indicating most customers have lower to moderate income/spending, but a long tail exists for high-value customers.</a:t>
            </a:r>
            <a:endParaRPr lang="en-US" altLang="en-US" sz="2400" dirty="0"/>
          </a:p>
          <a:p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Education</a:t>
            </a:r>
            <a:r>
              <a:rPr lang="en-US" altLang="en-US" sz="2400" dirty="0"/>
              <a:t>: Graduation is the most prevalent education level.</a:t>
            </a:r>
            <a:endParaRPr lang="en-US" altLang="en-US" sz="2400" dirty="0"/>
          </a:p>
          <a:p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Marital Status</a:t>
            </a:r>
            <a:r>
              <a:rPr lang="en-US" altLang="en-US" sz="2400" dirty="0"/>
              <a:t>: The majority of customers are either Married or Together.</a:t>
            </a:r>
            <a:endParaRPr lang="en-US" altLang="en-US" sz="24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1726" y="328047"/>
            <a:ext cx="45053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Univarient</a:t>
            </a:r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ntent Placeholder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910" y="1035933"/>
            <a:ext cx="9760684" cy="56700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5773" y="140048"/>
            <a:ext cx="4162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8458" y="1086396"/>
            <a:ext cx="99930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Insight</a:t>
            </a:r>
            <a:r>
              <a:rPr lang="en-US" altLang="en-US" sz="2400" dirty="0"/>
              <a:t>: A strong, clear positive correlation exists between Income and </a:t>
            </a:r>
            <a:r>
              <a:rPr lang="en-US" altLang="en-US" sz="2400" dirty="0" err="1"/>
              <a:t>TotalSpend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Observation</a:t>
            </a:r>
            <a:r>
              <a:rPr lang="en-US" altLang="en-US" sz="2400" dirty="0"/>
              <a:t>: The scatterplot shows a clear linear trend, confirming that high spenders are generally high earners.</a:t>
            </a:r>
            <a:endParaRPr lang="en-US" alt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920" y="3142641"/>
            <a:ext cx="5020066" cy="357531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alpha val="94000"/>
                <a:lumMod val="76000"/>
                <a:lumOff val="2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5232" y="270588"/>
            <a:ext cx="8266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0972" y="1530220"/>
            <a:ext cx="78750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Key Finding</a:t>
            </a:r>
            <a:r>
              <a:rPr lang="en-US" altLang="en-US" sz="2400" dirty="0"/>
              <a:t>: </a:t>
            </a:r>
            <a:r>
              <a:rPr lang="en-US" altLang="en-US" sz="2400" dirty="0" err="1"/>
              <a:t>TotalSpend</a:t>
            </a:r>
            <a:r>
              <a:rPr lang="en-US" altLang="en-US" sz="2400" dirty="0"/>
              <a:t> exhibits a very high correlation with </a:t>
            </a:r>
            <a:r>
              <a:rPr lang="en-US" altLang="en-US" sz="2400" dirty="0" err="1"/>
              <a:t>MntWines</a:t>
            </a:r>
            <a:r>
              <a:rPr lang="en-US" altLang="en-US" sz="2400" dirty="0"/>
              <a:t> and </a:t>
            </a:r>
            <a:r>
              <a:rPr lang="en-US" altLang="en-US" sz="2400" dirty="0" err="1"/>
              <a:t>MntMeatProducts</a:t>
            </a:r>
            <a:r>
              <a:rPr lang="en-US" altLang="en-US" sz="2400" dirty="0"/>
              <a:t>, confirming these are the biggest contributors to overall spending.</a:t>
            </a:r>
            <a:endParaRPr lang="en-US" altLang="en-US" sz="2400" dirty="0"/>
          </a:p>
          <a:p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Highly correlated spending columns suggest potential multicollinearity, which PCA will address.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0546" y="354563"/>
            <a:ext cx="8313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and Handling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3493" y="1791478"/>
            <a:ext cx="102450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Detected outliers in Income and </a:t>
            </a:r>
            <a:r>
              <a:rPr lang="en-US" sz="2400" dirty="0" err="1"/>
              <a:t>TotalSpend</a:t>
            </a:r>
            <a:r>
              <a:rPr lang="en-US" sz="2400" dirty="0"/>
              <a:t> using boxplots.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Used IQR method to cap extreme values.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Ensured data consistency and reduced skewness.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5233" y="317241"/>
            <a:ext cx="8304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and Scaling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1135" y="1464906"/>
            <a:ext cx="97971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Encoded categorical variables using </a:t>
            </a:r>
            <a:r>
              <a:rPr lang="en-US" sz="2400" dirty="0" err="1"/>
              <a:t>LabelEncoder</a:t>
            </a:r>
            <a:r>
              <a:rPr lang="en-US" sz="2400" dirty="0"/>
              <a:t>.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Scaling:</a:t>
            </a:r>
            <a:r>
              <a:rPr lang="en-US" sz="2400" dirty="0"/>
              <a:t> All features were scaled using </a:t>
            </a:r>
            <a:r>
              <a:rPr lang="en-US" sz="2400" b="1" dirty="0" err="1"/>
              <a:t>StandardScaler</a:t>
            </a:r>
            <a:r>
              <a:rPr lang="en-US" sz="2400" dirty="0"/>
              <a:t> (Z-Score) to ensure all variables contribute equally to the distance calculations during clustering.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Clustering Features:</a:t>
            </a:r>
            <a:r>
              <a:rPr lang="en-US" sz="2400" dirty="0"/>
              <a:t> The most informative variables were selected: </a:t>
            </a:r>
            <a:r>
              <a:rPr lang="en-US" sz="2400" b="1" dirty="0"/>
              <a:t>Income</a:t>
            </a:r>
            <a:r>
              <a:rPr lang="en-US" sz="2400" dirty="0"/>
              <a:t>, </a:t>
            </a:r>
            <a:r>
              <a:rPr lang="en-US" sz="2400" b="1" dirty="0"/>
              <a:t>Age</a:t>
            </a:r>
            <a:r>
              <a:rPr lang="en-US" sz="2400" dirty="0"/>
              <a:t>, </a:t>
            </a:r>
            <a:r>
              <a:rPr lang="en-US" sz="2400" b="1" dirty="0" err="1"/>
              <a:t>TotalChildren</a:t>
            </a:r>
            <a:r>
              <a:rPr lang="en-US" sz="2400" dirty="0"/>
              <a:t>, </a:t>
            </a:r>
            <a:r>
              <a:rPr lang="en-US" sz="2400" b="1" dirty="0" err="1"/>
              <a:t>FamilySize</a:t>
            </a:r>
            <a:r>
              <a:rPr lang="en-US" sz="2400" dirty="0"/>
              <a:t>, </a:t>
            </a:r>
            <a:r>
              <a:rPr lang="en-US" sz="2400" b="1" dirty="0" err="1"/>
              <a:t>TotalSpend</a:t>
            </a:r>
            <a:r>
              <a:rPr lang="en-US" sz="2400" dirty="0"/>
              <a:t>, and </a:t>
            </a:r>
            <a:r>
              <a:rPr lang="en-US" sz="2400" b="1" dirty="0"/>
              <a:t>Recency</a:t>
            </a:r>
            <a:r>
              <a:rPr lang="en-US" sz="2400" dirty="0"/>
              <a:t>.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538" y="401216"/>
            <a:ext cx="9479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7706" y="1408922"/>
            <a:ext cx="72032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Purpose:</a:t>
            </a:r>
            <a:r>
              <a:rPr lang="en-US" altLang="en-US" sz="2400" dirty="0"/>
              <a:t> To reduce the dimensionality of the scaled data while retaining most of the variance.</a:t>
            </a:r>
            <a:endParaRPr lang="en-US" altLang="en-US" sz="2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5069" y="2920481"/>
            <a:ext cx="915333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Google Sans Text"/>
              </a:rPr>
              <a:t>Result</a:t>
            </a:r>
            <a:r>
              <a:rPr lang="en-US" altLang="en-US" sz="2400" b="1" dirty="0">
                <a:latin typeface="Google Sans Text"/>
              </a:rPr>
              <a:t>:</a:t>
            </a:r>
            <a:r>
              <a:rPr lang="en-US" altLang="en-US" sz="2400" dirty="0"/>
              <a:t> PCA was configured to retain </a:t>
            </a:r>
            <a:r>
              <a:rPr lang="en-US" altLang="en-US" sz="2400" dirty="0">
                <a:latin typeface="Google Sans Text"/>
              </a:rPr>
              <a:t>95%</a:t>
            </a:r>
            <a:r>
              <a:rPr lang="en-US" altLang="en-US" sz="2400" dirty="0"/>
              <a:t> of the total variance, resulting in a reduction from </a:t>
            </a:r>
            <a:r>
              <a:rPr lang="en-US" altLang="en-US" sz="2400" b="1" dirty="0">
                <a:latin typeface="Google Sans Text"/>
              </a:rPr>
              <a:t>26 numerical features to 11 Principal Components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Benefit:</a:t>
            </a:r>
            <a:r>
              <a:rPr lang="en-US" sz="2400" dirty="0"/>
              <a:t> This reduces noise, speeds up computation, and mitigates the effect of multicollinearity.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endParaRPr lang="en-IN" sz="24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3853" y="326572"/>
            <a:ext cx="83813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552" y="1280013"/>
            <a:ext cx="7979432" cy="540430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4480" y="345232"/>
            <a:ext cx="9181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(Clustering)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4441" y="1614196"/>
            <a:ext cx="90413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Applied K-Means clustering on preprocessed data.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Used Elbow Method to determine optimal number of clusters.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74441" y="3415004"/>
            <a:ext cx="103196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Result</a:t>
            </a:r>
            <a:r>
              <a:rPr lang="en-US" altLang="en-US" sz="2400" dirty="0"/>
              <a:t>: The "elbow" point, where the decrease in inertia starts to slow down, is observed around </a:t>
            </a:r>
            <a:r>
              <a:rPr lang="en-US" altLang="en-US" sz="2400" b="1" dirty="0"/>
              <a:t>K=4 or K=5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Decision:</a:t>
            </a:r>
            <a:r>
              <a:rPr lang="en-US" altLang="en-US" sz="2400" dirty="0"/>
              <a:t> </a:t>
            </a:r>
            <a:r>
              <a:rPr lang="en-US" altLang="en-US" sz="2400" b="1" dirty="0"/>
              <a:t>K=4</a:t>
            </a:r>
            <a:r>
              <a:rPr lang="en-US" altLang="en-US" sz="2400" dirty="0"/>
              <a:t> was chosen as the optimal number of clusters for initial K-Means segmentation.</a:t>
            </a:r>
            <a:endParaRPr lang="en-US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774441" y="5589036"/>
            <a:ext cx="9227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Segmented customers into groups based on spending and demographics.</a:t>
            </a:r>
            <a:endParaRPr lang="en-IN" sz="24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505" y="307910"/>
            <a:ext cx="94239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Summary of Other Clustering Methods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ontent Placeholder 3"/>
          <p:cNvGraphicFramePr/>
          <p:nvPr/>
        </p:nvGraphicFramePr>
        <p:xfrm>
          <a:off x="922112" y="1156996"/>
          <a:ext cx="10171984" cy="55983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42996"/>
                <a:gridCol w="2542996"/>
                <a:gridCol w="2542996"/>
                <a:gridCol w="2542996"/>
              </a:tblGrid>
              <a:tr h="4121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</a:rPr>
                        <a:t>Characteristic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</a:rPr>
                        <a:t>Key Result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</a:rPr>
                        <a:t>Why it wasn't chosen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11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MiniBatch</a:t>
                      </a:r>
                      <a:r>
                        <a:rPr lang="en-IN" sz="1200" b="1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IN" sz="1200" b="1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KMeans</a:t>
                      </a:r>
                      <a:endParaRPr lang="en-IN" sz="1200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Uses data subsets (</a:t>
                      </a:r>
                      <a:r>
                        <a:rPr lang="en-US" sz="1200" b="1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mini-batches</a:t>
                      </a: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) to train faster.</a:t>
                      </a:r>
                      <a:endParaRPr lang="en-US" sz="1200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Scores were nearly </a:t>
                      </a:r>
                      <a:r>
                        <a:rPr lang="en-US" sz="1200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identical</a:t>
                      </a:r>
                      <a:r>
                        <a:rPr lang="en-US" sz="120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to standard KMeans (Silhouette: 0.237, Calinski-Harabasz: 763.04).</a:t>
                      </a:r>
                      <a:endParaRPr lang="en-US" sz="120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Excellent, but only preferred over </a:t>
                      </a:r>
                      <a:r>
                        <a:rPr lang="en-US" sz="1200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KMeans</a:t>
                      </a: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for significantly </a:t>
                      </a:r>
                      <a:r>
                        <a:rPr lang="en-US" sz="1200" b="1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larger datasets</a:t>
                      </a: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due to speed.</a:t>
                      </a:r>
                      <a:endParaRPr lang="en-US" sz="1200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52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Agglomerative (Hierarchical)</a:t>
                      </a:r>
                      <a:endParaRPr lang="en-IN" sz="1200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A </a:t>
                      </a:r>
                      <a:r>
                        <a:rPr lang="en-US" sz="1200" b="1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bottom-up method</a:t>
                      </a: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that merges clusters iteratively.</a:t>
                      </a:r>
                      <a:endParaRPr lang="en-US" sz="1200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Scores were </a:t>
                      </a:r>
                      <a:r>
                        <a:rPr lang="en-US" sz="1200" b="1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slightly lower</a:t>
                      </a: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than </a:t>
                      </a:r>
                      <a:r>
                        <a:rPr lang="en-US" sz="1200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KMeans</a:t>
                      </a: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across all metrics (Silhouette: 0.230, </a:t>
                      </a:r>
                      <a:r>
                        <a:rPr lang="en-US" sz="1200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Calinski-Harabasz</a:t>
                      </a: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: 734.16).</a:t>
                      </a:r>
                      <a:endParaRPr lang="en-US" sz="1200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Less computationally efficient than KMeans and didn't provide better quality clusters.</a:t>
                      </a:r>
                      <a:endParaRPr lang="en-US" sz="120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46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DBSCAN</a:t>
                      </a:r>
                      <a:endParaRPr lang="en-IN" sz="1200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Density-based</a:t>
                      </a:r>
                      <a:r>
                        <a:rPr lang="en-US" sz="120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clustering that identifies crowded regions and marks sparse areas as </a:t>
                      </a:r>
                      <a:r>
                        <a:rPr lang="en-US" sz="1200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noise (-1)</a:t>
                      </a:r>
                      <a:r>
                        <a:rPr lang="en-US" sz="120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.</a:t>
                      </a:r>
                      <a:endParaRPr lang="en-US" sz="120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Achieved the </a:t>
                      </a:r>
                      <a:r>
                        <a:rPr lang="en-US" sz="1200" b="1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highest Silhouette Score (0.355)</a:t>
                      </a: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but the lowest </a:t>
                      </a:r>
                      <a:r>
                        <a:rPr lang="en-US" sz="1200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Calinski-Harabasz</a:t>
                      </a: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score (15.27).</a:t>
                      </a:r>
                      <a:endParaRPr lang="en-US" sz="1200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Labeled too many customers as noise, making it poor for comprehensive market segmentation of the entire base.</a:t>
                      </a:r>
                      <a:endParaRPr lang="en-US" sz="120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52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Gaussian Mixture Model (GMM)</a:t>
                      </a:r>
                      <a:endParaRPr lang="en-IN" sz="120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A </a:t>
                      </a:r>
                      <a:r>
                        <a:rPr lang="en-US" sz="1200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probabilistic model</a:t>
                      </a:r>
                      <a:r>
                        <a:rPr lang="en-US" sz="120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that assumes data points are generated from a mixture of Gaussian (bell-curve) distributions.</a:t>
                      </a:r>
                      <a:endParaRPr lang="en-US" sz="120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Had the </a:t>
                      </a:r>
                      <a:r>
                        <a:rPr lang="en-US" sz="1200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worst Silhouette Score (0.158)</a:t>
                      </a:r>
                      <a:r>
                        <a:rPr lang="en-US" sz="120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of all models.</a:t>
                      </a:r>
                      <a:endParaRPr lang="en-US" sz="120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The underlying assumption of Gaussian-shaped clusters did not fit the customer data well.</a:t>
                      </a:r>
                      <a:endParaRPr lang="en-US" sz="1200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31386" marR="31386" marT="20924" marB="20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0384" y="242596"/>
            <a:ext cx="3671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Cluster Insights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/>
          <p:nvPr/>
        </p:nvSpPr>
        <p:spPr>
          <a:xfrm>
            <a:off x="581606" y="1452704"/>
            <a:ext cx="10101945" cy="453879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</a:rPr>
              <a:t>Clustering Performance Comparison:</a:t>
            </a:r>
            <a:endParaRPr lang="en-IN" sz="2400" dirty="0">
              <a:solidFill>
                <a:schemeClr val="tx1"/>
              </a:solidFill>
            </a:endParaRPr>
          </a:p>
          <a:p>
            <a:pPr marL="0" indent="0" latinLnBrk="1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</a:rPr>
              <a:t>---------------------------------------------------------------------------------------------------</a:t>
            </a:r>
            <a:endParaRPr lang="en-IN" dirty="0">
              <a:solidFill>
                <a:schemeClr val="tx1"/>
              </a:solidFill>
            </a:endParaRPr>
          </a:p>
          <a:p>
            <a:pPr marL="0" indent="0" latinLnBrk="1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</a:rPr>
              <a:t>   </a:t>
            </a:r>
            <a:r>
              <a:rPr lang="en-IN" b="1" dirty="0">
                <a:solidFill>
                  <a:schemeClr val="bg1"/>
                </a:solidFill>
              </a:rPr>
              <a:t>Model                Silhouette     Davies-Bouldin      </a:t>
            </a:r>
            <a:r>
              <a:rPr lang="en-IN" b="1" dirty="0" err="1">
                <a:solidFill>
                  <a:schemeClr val="bg1"/>
                </a:solidFill>
              </a:rPr>
              <a:t>Calinski-Harabas</a:t>
            </a:r>
            <a:endParaRPr lang="en-IN" b="1" dirty="0">
              <a:solidFill>
                <a:schemeClr val="bg1"/>
              </a:solidFill>
            </a:endParaRPr>
          </a:p>
          <a:p>
            <a:pPr marL="0" indent="0" latinLnBrk="1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</a:rPr>
              <a:t>----------------------------------------------------------------------------------------------------</a:t>
            </a:r>
            <a:endParaRPr lang="en-IN" dirty="0">
              <a:solidFill>
                <a:schemeClr val="tx1"/>
              </a:solidFill>
            </a:endParaRPr>
          </a:p>
          <a:p>
            <a:pPr marL="0" indent="0" latinLnBrk="1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</a:rPr>
              <a:t>  </a:t>
            </a:r>
            <a:r>
              <a:rPr lang="en-IN" dirty="0" err="1">
                <a:solidFill>
                  <a:schemeClr val="tx1"/>
                </a:solidFill>
              </a:rPr>
              <a:t>KMeans</a:t>
            </a:r>
            <a:r>
              <a:rPr lang="en-IN" dirty="0">
                <a:solidFill>
                  <a:schemeClr val="tx1"/>
                </a:solidFill>
              </a:rPr>
              <a:t>                  0.238120        1.500809               771.065905</a:t>
            </a:r>
            <a:endParaRPr lang="en-IN" dirty="0">
              <a:solidFill>
                <a:schemeClr val="tx1"/>
              </a:solidFill>
            </a:endParaRPr>
          </a:p>
          <a:p>
            <a:pPr marL="0" indent="0" latinLnBrk="1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</a:rPr>
              <a:t> Agglomerative      0.229845        1.525626              734.1599</a:t>
            </a:r>
            <a:endParaRPr lang="en-IN" dirty="0">
              <a:solidFill>
                <a:schemeClr val="tx1"/>
              </a:solidFill>
            </a:endParaRPr>
          </a:p>
          <a:p>
            <a:pPr marL="0" indent="0" latinLnBrk="1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</a:rPr>
              <a:t> DBSCAN                  0.354577         2.569263              15.272652</a:t>
            </a:r>
            <a:endParaRPr lang="en-IN" dirty="0">
              <a:solidFill>
                <a:schemeClr val="tx1"/>
              </a:solidFill>
            </a:endParaRPr>
          </a:p>
          <a:p>
            <a:pPr marL="0" indent="0" latinLnBrk="1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</a:rPr>
              <a:t> GMM                       0.157871        1.806847              435.983432</a:t>
            </a:r>
            <a:endParaRPr lang="en-IN" dirty="0">
              <a:solidFill>
                <a:schemeClr val="tx1"/>
              </a:solidFill>
            </a:endParaRPr>
          </a:p>
          <a:p>
            <a:pPr marL="0" indent="0" latinLnBrk="1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MiniBatchKMeans</a:t>
            </a:r>
            <a:r>
              <a:rPr lang="en-IN" dirty="0">
                <a:solidFill>
                  <a:schemeClr val="tx1"/>
                </a:solidFill>
              </a:rPr>
              <a:t>  0.211935        1.553719              712.786333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6373" y="83775"/>
            <a:ext cx="83229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Best Model Selected</a:t>
            </a:r>
            <a:b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(Overall Score: 0.867)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711" y="1600434"/>
            <a:ext cx="7285542" cy="51737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808" y="452285"/>
            <a:ext cx="7708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Deployment Summary</a:t>
            </a:r>
            <a:endParaRPr lang="en-I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09601" y="1577649"/>
            <a:ext cx="1013705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Segmentation model using K-Means clustering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group customers based on behavior and demographics.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preprocessing and feature scaling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accurate clustering results.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Developed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web app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visualize customer segments and insights.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Deployed the solution to showcase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real-world ML application and business decision support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775" y="186813"/>
            <a:ext cx="24545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Outputs</a:t>
            </a:r>
            <a:endParaRPr lang="en-I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974" y="956254"/>
            <a:ext cx="7782091" cy="58796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617" y="253584"/>
            <a:ext cx="8580796" cy="635083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8364" y="540774"/>
            <a:ext cx="4473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1052" y="1965207"/>
            <a:ext cx="97019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Customer segmentation revealed distinct behavioral groups.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Marketing can be optimized for each segment’s characteristics.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Data-driven strategies improve retention and campaign efficiency.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1716" y="530942"/>
            <a:ext cx="33455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08355" y="1905506"/>
            <a:ext cx="80845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Incorporate additional customer engagement metrics.</a:t>
            </a:r>
            <a:endParaRPr lang="en-IN" sz="2400" dirty="0"/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Improve </a:t>
            </a:r>
            <a:r>
              <a:rPr lang="en-IN" sz="2400" b="1" dirty="0"/>
              <a:t>GUI design &amp; performance</a:t>
            </a:r>
            <a:r>
              <a:rPr lang="en-IN" sz="2400" dirty="0"/>
              <a:t>.</a:t>
            </a:r>
            <a:endParaRPr lang="en-IN" sz="2400" dirty="0"/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Automate periodic segmentation updates.</a:t>
            </a:r>
            <a:endParaRPr lang="en-IN" sz="2400" dirty="0"/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Integrate insights with CRM systems.</a:t>
            </a:r>
            <a:endParaRPr lang="en-IN" sz="240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3963" y="2443104"/>
            <a:ext cx="57464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6383</Words>
  <Application>WPS Presentation</Application>
  <PresentationFormat>Widescreen</PresentationFormat>
  <Paragraphs>214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Arial</vt:lpstr>
      <vt:lpstr>SimSun</vt:lpstr>
      <vt:lpstr>Wingdings</vt:lpstr>
      <vt:lpstr>Wingdings 3</vt:lpstr>
      <vt:lpstr>Aptos</vt:lpstr>
      <vt:lpstr>Segoe UI</vt:lpstr>
      <vt:lpstr>Times New Roman</vt:lpstr>
      <vt:lpstr>Century Gothic</vt:lpstr>
      <vt:lpstr>Microsoft YaHei</vt:lpstr>
      <vt:lpstr>Arial Unicode MS</vt:lpstr>
      <vt:lpstr>Calibri</vt:lpstr>
      <vt:lpstr>Google Sans Text</vt:lpstr>
      <vt:lpstr>Segoe Print</vt:lpstr>
      <vt:lpstr>Tahoma</vt:lpstr>
      <vt:lpstr>Slice</vt:lpstr>
      <vt:lpstr>Customer  Segmentation Project</vt:lpstr>
      <vt:lpstr>PowerPoint 演示文稿</vt:lpstr>
      <vt:lpstr> </vt:lpstr>
      <vt:lpstr>PowerPoint 演示文稿</vt:lpstr>
      <vt:lpstr>Feature Engineering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MODULE</dc:title>
  <dc:creator>Sonika R</dc:creator>
  <cp:lastModifiedBy>Admin</cp:lastModifiedBy>
  <cp:revision>16</cp:revision>
  <dcterms:created xsi:type="dcterms:W3CDTF">2026-01-02T09:46:00Z</dcterms:created>
  <dcterms:modified xsi:type="dcterms:W3CDTF">2026-01-30T06:07:04Z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63FA46618CA74CB49AA04C26FD4F60C0_12</vt:lpwstr>
  </property>
  <property fmtid="{D5CDD505-2E9C-101B-9397-08002B2CF9AE}" pid="3" name="KSOProductBuildVer">
    <vt:lpwstr>1033-12.2.0.23196</vt:lpwstr>
  </property>
</Properties>
</file>